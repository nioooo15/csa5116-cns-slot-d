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F56F9E8-97C5-4727-47DE-F57973937556}">
          <p14:sldIdLst>
            <p14:sldId id="256"/>
            <p14:sldId id="257"/>
          </p14:sldIdLst>
        </p14:section>
        <p14:section name="Cryptography" id="{3B5238AA-FBD4-EB79-0246-216B10DD8D81}">
          <p14:sldIdLst>
            <p14:sldId id="258"/>
            <p14:sldId id="259"/>
          </p14:sldIdLst>
        </p14:section>
        <p14:section name="Steganography" id="{550C8AB6-48E7-9790-C588-9EC73C17C3BE}">
          <p14:sldIdLst>
            <p14:sldId id="260"/>
            <p14:sldId id="261"/>
            <p14:sldId id="262"/>
          </p14:sldIdLst>
        </p14:section>
        <p14:section name="Comparison" id="{2403083B-729C-FD49-3744-C3376E77C373}">
          <p14:sldIdLst>
            <p14:sldId id="263"/>
            <p14:sldId id="264"/>
            <p14:sldId id="265"/>
            <p14:sldId id="266"/>
          </p14:sldIdLst>
        </p14:section>
        <p14:section name="Conclusion" id="{66ABE91F-C86E-FBAD-18D8-ADCDF325C14C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3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compare two ways of protecting information: cryptography, which scrambles a message, and steganography, which hides that the message exists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parts: the two techniques on their own, a direct comparison, and why combining them works so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can see that a message is being sent, but without the key it is gibberish. Cryptography delivers three core guarantees: confidentiality, integrity and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Symmetric is fast but needs a safe way to share the key. Asymmetric solves that with key pairs. Hashing is different: it is one-way and used for verification and password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nothing looks scrambled. The carrier file looks completely ordinary. Good steganography balances three properties: undetectability, capacity and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any digital medium can carry a hidden payload. Images are the most common because they are large and tolerant of tiny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only the last bit of a pixel value shifts the colour by at most one level out of 256. The eye cannot see it, but the receiver can read the bits back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contrast: cryptography protects the content even when the message is visible, while steganography protects the secret by keeping it out of sight. If steganography is discovered, the message is exposed.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one slide, make it this one. Cryptography hides what the message says; steganography hides that there is a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Cryptography is everywhere in daily life. Steganography is more niche: watermarking and censorship-resistant messaging are legitimate uses, while malware authors also use it to smuggle payloads past defences.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technique is strictly better. Each one covers the weaknesses of the other, which sets up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Encrypt first, then embed. An attacker has to find the hidden data and then break the encryption: defence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three takeaways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05840"/>
            <a:ext cx="539496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3464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Steganography vs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058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Steganography vs Cryptography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34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Hidden Security in the Digital World</a:t>
            </a:r>
            <a:endParaRPr lang="en-US" sz="2000" dirty="0"/>
          </a:p>
        </p:txBody>
      </p:sp>
      <p:sp>
        <p:nvSpPr>
          <p:cNvPr id="4" name="crypto hero circle"/>
          <p:cNvSpPr/>
          <p:nvPr/>
        </p:nvSpPr>
        <p:spPr>
          <a:xfrm>
            <a:off x="630936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rypto hero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74" y="1274674"/>
            <a:ext cx="833933" cy="833933"/>
          </a:xfrm>
          <a:prstGeom prst="rect">
            <a:avLst/>
          </a:prstGeom>
        </p:spPr>
      </p:pic>
      <p:sp>
        <p:nvSpPr>
          <p:cNvPr id="6" name="stego hero circle"/>
          <p:cNvSpPr/>
          <p:nvPr/>
        </p:nvSpPr>
        <p:spPr>
          <a:xfrm>
            <a:off x="7040880" y="2651760"/>
            <a:ext cx="1737360" cy="1737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stego hero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594" y="3103474"/>
            <a:ext cx="833933" cy="8339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0876DC-BAB1-79BD-CEDE-E1DAECFA2ACD}"/>
              </a:ext>
            </a:extLst>
          </p:cNvPr>
          <p:cNvSpPr txBox="1"/>
          <p:nvPr/>
        </p:nvSpPr>
        <p:spPr>
          <a:xfrm>
            <a:off x="587395" y="3451709"/>
            <a:ext cx="4620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P.Nitishkumar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192311408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CSA5116-Cryptography and Network Security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We'll Cover</a:t>
            </a:r>
            <a:endParaRPr lang="en-US" sz="3400" dirty="0"/>
          </a:p>
        </p:txBody>
      </p:sp>
      <p:sp>
        <p:nvSpPr>
          <p:cNvPr id="3" name="agenda card 01"/>
          <p:cNvSpPr/>
          <p:nvPr/>
        </p:nvSpPr>
        <p:spPr>
          <a:xfrm>
            <a:off x="548640" y="141732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agenda num 01"/>
          <p:cNvSpPr txBox="1"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agenda text 01"/>
          <p:cNvSpPr txBox="1"/>
          <p:nvPr/>
        </p:nvSpPr>
        <p:spPr>
          <a:xfrm>
            <a:off x="1600200" y="1600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Cryptography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Scrambling a message so it can't be read</a:t>
            </a:r>
            <a:endParaRPr lang="en-US" sz="2000" dirty="0"/>
          </a:p>
        </p:txBody>
      </p:sp>
      <p:sp>
        <p:nvSpPr>
          <p:cNvPr id="6" name="agenda card 02"/>
          <p:cNvSpPr/>
          <p:nvPr/>
        </p:nvSpPr>
        <p:spPr>
          <a:xfrm>
            <a:off x="4663440" y="141732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genda num 02"/>
          <p:cNvSpPr txBox="1"/>
          <p:nvPr/>
        </p:nvSpPr>
        <p:spPr>
          <a:xfrm>
            <a:off x="489204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8" name="agenda text 02"/>
          <p:cNvSpPr txBox="1"/>
          <p:nvPr/>
        </p:nvSpPr>
        <p:spPr>
          <a:xfrm>
            <a:off x="5715000" y="1600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Steganography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Concealing that a message exists</a:t>
            </a:r>
            <a:endParaRPr lang="en-US" sz="2000" dirty="0"/>
          </a:p>
        </p:txBody>
      </p:sp>
      <p:sp>
        <p:nvSpPr>
          <p:cNvPr id="9" name="agenda card 03"/>
          <p:cNvSpPr/>
          <p:nvPr/>
        </p:nvSpPr>
        <p:spPr>
          <a:xfrm>
            <a:off x="548640" y="297180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agenda num 03"/>
          <p:cNvSpPr txBox="1"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agenda text 03"/>
          <p:cNvSpPr txBox="1"/>
          <p:nvPr/>
        </p:nvSpPr>
        <p:spPr>
          <a:xfrm>
            <a:off x="1600200" y="3154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Head-to-Head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Goals, strengths and limitations compared</a:t>
            </a:r>
            <a:endParaRPr lang="en-US" sz="2000" dirty="0"/>
          </a:p>
        </p:txBody>
      </p:sp>
      <p:sp>
        <p:nvSpPr>
          <p:cNvPr id="12" name="agenda card 04"/>
          <p:cNvSpPr/>
          <p:nvPr/>
        </p:nvSpPr>
        <p:spPr>
          <a:xfrm>
            <a:off x="4663440" y="297180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agenda num 04"/>
          <p:cNvSpPr txBox="1"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04</a:t>
            </a:r>
            <a:endParaRPr lang="en-US" sz="1800" dirty="0"/>
          </a:p>
        </p:txBody>
      </p:sp>
      <p:sp>
        <p:nvSpPr>
          <p:cNvPr id="14" name="agenda text 04"/>
          <p:cNvSpPr txBox="1"/>
          <p:nvPr/>
        </p:nvSpPr>
        <p:spPr>
          <a:xfrm>
            <a:off x="5715000" y="3154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Better Together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Layering both for stronger security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Cryptography?</a:t>
            </a:r>
            <a:endParaRPr lang="en-US" sz="3400" dirty="0"/>
          </a:p>
        </p:txBody>
      </p:sp>
      <p:sp>
        <p:nvSpPr>
          <p:cNvPr id="3" name="crypto definition"/>
          <p:cNvSpPr txBox="1"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science of transforming readable data into unreadable ciphertext using algorithms and keys.</a:t>
            </a:r>
            <a:endParaRPr lang="en-US" sz="1600" dirty="0"/>
          </a:p>
        </p:txBody>
      </p:sp>
      <p:sp>
        <p:nvSpPr>
          <p:cNvPr id="4" name="flow Plaintext"/>
          <p:cNvSpPr txBox="1"/>
          <p:nvPr/>
        </p:nvSpPr>
        <p:spPr>
          <a:xfrm>
            <a:off x="54864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Plaintext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Hello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1897380" y="24780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6" name="flow Encrypt"/>
          <p:cNvSpPr txBox="1"/>
          <p:nvPr/>
        </p:nvSpPr>
        <p:spPr>
          <a:xfrm>
            <a:off x="224028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Encrypt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+ key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3589020" y="24780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flow Ciphertext"/>
          <p:cNvSpPr txBox="1"/>
          <p:nvPr/>
        </p:nvSpPr>
        <p:spPr>
          <a:xfrm>
            <a:off x="393192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Ciphertext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</a:rPr>
              <a:t>x8#Kq9!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5280660" y="24780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0" name="flow Decrypt"/>
          <p:cNvSpPr txBox="1"/>
          <p:nvPr/>
        </p:nvSpPr>
        <p:spPr>
          <a:xfrm>
            <a:off x="562356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Decrypt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+ key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6972300" y="24780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2" name="flow Plaintext"/>
          <p:cNvSpPr txBox="1"/>
          <p:nvPr/>
        </p:nvSpPr>
        <p:spPr>
          <a:xfrm>
            <a:off x="731520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Plaintext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Hello</a:t>
            </a:r>
            <a:endParaRPr lang="en-US" sz="1400" dirty="0"/>
          </a:p>
        </p:txBody>
      </p:sp>
      <p:sp>
        <p:nvSpPr>
          <p:cNvPr id="13" name="goal card Confidentiality"/>
          <p:cNvSpPr/>
          <p:nvPr/>
        </p:nvSpPr>
        <p:spPr>
          <a:xfrm>
            <a:off x="548640" y="347472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4" name="goal 0 circle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oal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891686"/>
            <a:ext cx="263347" cy="263347"/>
          </a:xfrm>
          <a:prstGeom prst="rect">
            <a:avLst/>
          </a:prstGeom>
        </p:spPr>
      </p:pic>
      <p:sp>
        <p:nvSpPr>
          <p:cNvPr id="16" name="goal text 0"/>
          <p:cNvSpPr txBox="1"/>
          <p:nvPr/>
        </p:nvSpPr>
        <p:spPr>
          <a:xfrm>
            <a:off x="1417320" y="3566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Confidentiality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Only the right people can read it</a:t>
            </a:r>
            <a:endParaRPr lang="en-US" sz="1600" dirty="0"/>
          </a:p>
        </p:txBody>
      </p:sp>
      <p:sp>
        <p:nvSpPr>
          <p:cNvPr id="17" name="goal card Integrity"/>
          <p:cNvSpPr/>
          <p:nvPr/>
        </p:nvSpPr>
        <p:spPr>
          <a:xfrm>
            <a:off x="3291840" y="347472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8" name="goal 1 circle"/>
          <p:cNvSpPr/>
          <p:nvPr/>
        </p:nvSpPr>
        <p:spPr>
          <a:xfrm>
            <a:off x="347472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goal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366" y="3891686"/>
            <a:ext cx="263347" cy="263347"/>
          </a:xfrm>
          <a:prstGeom prst="rect">
            <a:avLst/>
          </a:prstGeom>
        </p:spPr>
      </p:pic>
      <p:sp>
        <p:nvSpPr>
          <p:cNvPr id="20" name="goal text 1"/>
          <p:cNvSpPr txBox="1"/>
          <p:nvPr/>
        </p:nvSpPr>
        <p:spPr>
          <a:xfrm>
            <a:off x="4160520" y="3566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Integrity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Data cannot be altered unnoticed</a:t>
            </a:r>
            <a:endParaRPr lang="en-US" sz="1600" dirty="0"/>
          </a:p>
        </p:txBody>
      </p:sp>
      <p:sp>
        <p:nvSpPr>
          <p:cNvPr id="21" name="goal card Authentication"/>
          <p:cNvSpPr/>
          <p:nvPr/>
        </p:nvSpPr>
        <p:spPr>
          <a:xfrm>
            <a:off x="6035040" y="347472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2" name="goal 2 circle"/>
          <p:cNvSpPr/>
          <p:nvPr/>
        </p:nvSpPr>
        <p:spPr>
          <a:xfrm>
            <a:off x="621792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goal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566" y="3891686"/>
            <a:ext cx="263347" cy="263347"/>
          </a:xfrm>
          <a:prstGeom prst="rect">
            <a:avLst/>
          </a:prstGeom>
        </p:spPr>
      </p:pic>
      <p:sp>
        <p:nvSpPr>
          <p:cNvPr id="24" name="goal text 2"/>
          <p:cNvSpPr txBox="1"/>
          <p:nvPr/>
        </p:nvSpPr>
        <p:spPr>
          <a:xfrm>
            <a:off x="6903720" y="3566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Proves who sent the message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Families of Cryptography</a:t>
            </a:r>
            <a:endParaRPr lang="en-US" sz="3400" dirty="0"/>
          </a:p>
        </p:txBody>
      </p:sp>
      <p:sp>
        <p:nvSpPr>
          <p:cNvPr id="3" name="type card Symmetric"/>
          <p:cNvSpPr/>
          <p:nvPr/>
        </p:nvSpPr>
        <p:spPr>
          <a:xfrm>
            <a:off x="548640" y="137160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ype 0 circle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ype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1790395"/>
            <a:ext cx="351130" cy="351130"/>
          </a:xfrm>
          <a:prstGeom prst="rect">
            <a:avLst/>
          </a:prstGeom>
        </p:spPr>
      </p:pic>
      <p:sp>
        <p:nvSpPr>
          <p:cNvPr id="6" name="type name 0"/>
          <p:cNvSpPr txBox="1"/>
          <p:nvPr/>
        </p:nvSpPr>
        <p:spPr>
          <a:xfrm>
            <a:off x="77724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Symmetric</a:t>
            </a:r>
            <a:endParaRPr lang="en-US" sz="2200" dirty="0"/>
          </a:p>
        </p:txBody>
      </p:sp>
      <p:sp>
        <p:nvSpPr>
          <p:cNvPr id="7" name="type desc 0"/>
          <p:cNvSpPr txBox="1"/>
          <p:nvPr/>
        </p:nvSpPr>
        <p:spPr>
          <a:xfrm>
            <a:off x="777240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shared secret key encrypts and decrypts. Fast and ideal for bulk data.</a:t>
            </a:r>
            <a:endParaRPr lang="en-US" sz="1400" dirty="0"/>
          </a:p>
        </p:txBody>
      </p:sp>
      <p:sp>
        <p:nvSpPr>
          <p:cNvPr id="8" name="type examples 0"/>
          <p:cNvSpPr txBox="1"/>
          <p:nvPr/>
        </p:nvSpPr>
        <p:spPr>
          <a:xfrm>
            <a:off x="77724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Examples: </a:t>
            </a:r>
            <a:r>
              <a:rPr lang="en-US" sz="1400" dirty="0">
                <a:solidFill>
                  <a:schemeClr val="accent4"/>
                </a:solidFill>
              </a:rPr>
              <a:t>AES, ChaCha20</a:t>
            </a:r>
            <a:endParaRPr lang="en-US" sz="1400" dirty="0"/>
          </a:p>
        </p:txBody>
      </p:sp>
      <p:sp>
        <p:nvSpPr>
          <p:cNvPr id="9" name="type card Asymmetric"/>
          <p:cNvSpPr/>
          <p:nvPr/>
        </p:nvSpPr>
        <p:spPr>
          <a:xfrm>
            <a:off x="3291840" y="137160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ype 1 circle"/>
          <p:cNvSpPr/>
          <p:nvPr/>
        </p:nvSpPr>
        <p:spPr>
          <a:xfrm>
            <a:off x="35204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type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635" y="1790395"/>
            <a:ext cx="351130" cy="351130"/>
          </a:xfrm>
          <a:prstGeom prst="rect">
            <a:avLst/>
          </a:prstGeom>
        </p:spPr>
      </p:pic>
      <p:sp>
        <p:nvSpPr>
          <p:cNvPr id="12" name="type name 1"/>
          <p:cNvSpPr txBox="1"/>
          <p:nvPr/>
        </p:nvSpPr>
        <p:spPr>
          <a:xfrm>
            <a:off x="352044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Asymmetric</a:t>
            </a:r>
            <a:endParaRPr lang="en-US" sz="2200" dirty="0"/>
          </a:p>
        </p:txBody>
      </p:sp>
      <p:sp>
        <p:nvSpPr>
          <p:cNvPr id="13" name="type desc 1"/>
          <p:cNvSpPr txBox="1"/>
          <p:nvPr/>
        </p:nvSpPr>
        <p:spPr>
          <a:xfrm>
            <a:off x="3520440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public key encrypts, a private key decrypts. Solves key sharing.</a:t>
            </a:r>
            <a:endParaRPr lang="en-US" sz="1400" dirty="0"/>
          </a:p>
        </p:txBody>
      </p:sp>
      <p:sp>
        <p:nvSpPr>
          <p:cNvPr id="14" name="type examples 1"/>
          <p:cNvSpPr txBox="1"/>
          <p:nvPr/>
        </p:nvSpPr>
        <p:spPr>
          <a:xfrm>
            <a:off x="352044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Examples: </a:t>
            </a:r>
            <a:r>
              <a:rPr lang="en-US" sz="1400" dirty="0">
                <a:solidFill>
                  <a:schemeClr val="accent4"/>
                </a:solidFill>
              </a:rPr>
              <a:t>RSA, ECC</a:t>
            </a:r>
            <a:endParaRPr lang="en-US" sz="1400" dirty="0"/>
          </a:p>
        </p:txBody>
      </p:sp>
      <p:sp>
        <p:nvSpPr>
          <p:cNvPr id="15" name="type card Hashing"/>
          <p:cNvSpPr/>
          <p:nvPr/>
        </p:nvSpPr>
        <p:spPr>
          <a:xfrm>
            <a:off x="6035040" y="137160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6" name="type 2 circle"/>
          <p:cNvSpPr/>
          <p:nvPr/>
        </p:nvSpPr>
        <p:spPr>
          <a:xfrm>
            <a:off x="62636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type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835" y="1790395"/>
            <a:ext cx="351130" cy="351130"/>
          </a:xfrm>
          <a:prstGeom prst="rect">
            <a:avLst/>
          </a:prstGeom>
        </p:spPr>
      </p:pic>
      <p:sp>
        <p:nvSpPr>
          <p:cNvPr id="18" name="type name 2"/>
          <p:cNvSpPr txBox="1"/>
          <p:nvPr/>
        </p:nvSpPr>
        <p:spPr>
          <a:xfrm>
            <a:off x="626364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Hashing</a:t>
            </a:r>
            <a:endParaRPr lang="en-US" sz="2200" dirty="0"/>
          </a:p>
        </p:txBody>
      </p:sp>
      <p:sp>
        <p:nvSpPr>
          <p:cNvPr id="19" name="type desc 2"/>
          <p:cNvSpPr txBox="1"/>
          <p:nvPr/>
        </p:nvSpPr>
        <p:spPr>
          <a:xfrm>
            <a:off x="6263640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one-way fingerprint of data. Used to verify integrity, never to decrypt.</a:t>
            </a:r>
            <a:endParaRPr lang="en-US" sz="1400" dirty="0"/>
          </a:p>
        </p:txBody>
      </p:sp>
      <p:sp>
        <p:nvSpPr>
          <p:cNvPr id="20" name="type examples 2"/>
          <p:cNvSpPr txBox="1"/>
          <p:nvPr/>
        </p:nvSpPr>
        <p:spPr>
          <a:xfrm>
            <a:off x="626364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Examples: </a:t>
            </a:r>
            <a:r>
              <a:rPr lang="en-US" sz="1400" dirty="0">
                <a:solidFill>
                  <a:schemeClr val="accent4"/>
                </a:solidFill>
              </a:rPr>
              <a:t>SHA-256, bcrypt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Steganography?</a:t>
            </a:r>
            <a:endParaRPr lang="en-US" sz="3400" dirty="0"/>
          </a:p>
        </p:txBody>
      </p:sp>
      <p:sp>
        <p:nvSpPr>
          <p:cNvPr id="3" name="stego definition"/>
          <p:cNvSpPr txBox="1"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art of hiding a secret inside an ordinary file so no one suspects it is there. From Greek: steganos (covered) + graphein (writing).</a:t>
            </a:r>
            <a:endParaRPr lang="en-US" sz="1600" dirty="0"/>
          </a:p>
        </p:txBody>
      </p:sp>
      <p:sp>
        <p:nvSpPr>
          <p:cNvPr id="4" name="flow Secret + Cover"/>
          <p:cNvSpPr txBox="1"/>
          <p:nvPr/>
        </p:nvSpPr>
        <p:spPr>
          <a:xfrm>
            <a:off x="54864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 + Cover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message + image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1897380" y="24780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6" name="flow Embed"/>
          <p:cNvSpPr txBox="1"/>
          <p:nvPr/>
        </p:nvSpPr>
        <p:spPr>
          <a:xfrm>
            <a:off x="224028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Embed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tweak bits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3589020" y="24780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flow Stego file"/>
          <p:cNvSpPr txBox="1"/>
          <p:nvPr/>
        </p:nvSpPr>
        <p:spPr>
          <a:xfrm>
            <a:off x="393192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Stego file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looks normal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5280660" y="24780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0" name="flow Extract"/>
          <p:cNvSpPr txBox="1"/>
          <p:nvPr/>
        </p:nvSpPr>
        <p:spPr>
          <a:xfrm>
            <a:off x="562356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Extract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read bits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6972300" y="24780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2" name="flow Secret"/>
          <p:cNvSpPr txBox="1"/>
          <p:nvPr/>
        </p:nvSpPr>
        <p:spPr>
          <a:xfrm>
            <a:off x="7315200" y="2103120"/>
            <a:ext cx="1280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recovered</a:t>
            </a:r>
            <a:endParaRPr lang="en-US" sz="1400" dirty="0"/>
          </a:p>
        </p:txBody>
      </p:sp>
      <p:sp>
        <p:nvSpPr>
          <p:cNvPr id="13" name="prop card Undetectable"/>
          <p:cNvSpPr/>
          <p:nvPr/>
        </p:nvSpPr>
        <p:spPr>
          <a:xfrm>
            <a:off x="548640" y="347472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4" name="prop 0 circle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rop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891686"/>
            <a:ext cx="263347" cy="263347"/>
          </a:xfrm>
          <a:prstGeom prst="rect">
            <a:avLst/>
          </a:prstGeom>
        </p:spPr>
      </p:pic>
      <p:sp>
        <p:nvSpPr>
          <p:cNvPr id="16" name="prop text 0"/>
          <p:cNvSpPr txBox="1"/>
          <p:nvPr/>
        </p:nvSpPr>
        <p:spPr>
          <a:xfrm>
            <a:off x="1417320" y="3566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Undetectable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Cover looks unchanged</a:t>
            </a:r>
            <a:endParaRPr lang="en-US" sz="1600" dirty="0"/>
          </a:p>
        </p:txBody>
      </p:sp>
      <p:sp>
        <p:nvSpPr>
          <p:cNvPr id="17" name="prop card Capacity"/>
          <p:cNvSpPr/>
          <p:nvPr/>
        </p:nvSpPr>
        <p:spPr>
          <a:xfrm>
            <a:off x="3291840" y="347472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8" name="prop 1 circle"/>
          <p:cNvSpPr/>
          <p:nvPr/>
        </p:nvSpPr>
        <p:spPr>
          <a:xfrm>
            <a:off x="3474720" y="3749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prop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366" y="3891686"/>
            <a:ext cx="263347" cy="263347"/>
          </a:xfrm>
          <a:prstGeom prst="rect">
            <a:avLst/>
          </a:prstGeom>
        </p:spPr>
      </p:pic>
      <p:sp>
        <p:nvSpPr>
          <p:cNvPr id="20" name="prop text 1"/>
          <p:cNvSpPr txBox="1"/>
          <p:nvPr/>
        </p:nvSpPr>
        <p:spPr>
          <a:xfrm>
            <a:off x="4160520" y="3566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Capacity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How much can be hidden</a:t>
            </a:r>
            <a:endParaRPr lang="en-US" sz="1600" dirty="0"/>
          </a:p>
        </p:txBody>
      </p:sp>
      <p:sp>
        <p:nvSpPr>
          <p:cNvPr id="21" name="prop card Robustness"/>
          <p:cNvSpPr/>
          <p:nvPr/>
        </p:nvSpPr>
        <p:spPr>
          <a:xfrm>
            <a:off x="6035040" y="347472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2" name="prop 2 circle"/>
          <p:cNvSpPr/>
          <p:nvPr/>
        </p:nvSpPr>
        <p:spPr>
          <a:xfrm>
            <a:off x="6217920" y="3749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prop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566" y="3891686"/>
            <a:ext cx="263347" cy="263347"/>
          </a:xfrm>
          <a:prstGeom prst="rect">
            <a:avLst/>
          </a:prstGeom>
        </p:spPr>
      </p:pic>
      <p:sp>
        <p:nvSpPr>
          <p:cNvPr id="24" name="prop text 2"/>
          <p:cNvSpPr txBox="1"/>
          <p:nvPr/>
        </p:nvSpPr>
        <p:spPr>
          <a:xfrm>
            <a:off x="6903720" y="3566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Robustness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Survives edits and compression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Secrets Can Hide</a:t>
            </a:r>
            <a:endParaRPr lang="en-US" sz="3400" dirty="0"/>
          </a:p>
        </p:txBody>
      </p:sp>
      <p:sp>
        <p:nvSpPr>
          <p:cNvPr id="3" name="tech 0 circle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ech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1641348"/>
            <a:ext cx="329184" cy="329184"/>
          </a:xfrm>
          <a:prstGeom prst="rect">
            <a:avLst/>
          </a:prstGeom>
        </p:spPr>
      </p:pic>
      <p:sp>
        <p:nvSpPr>
          <p:cNvPr id="5" name="tech text 0"/>
          <p:cNvSpPr txBox="1"/>
          <p:nvPr/>
        </p:nvSpPr>
        <p:spPr>
          <a:xfrm>
            <a:off x="1463040" y="1371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Image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Least significant bits of pixel colours</a:t>
            </a:r>
            <a:endParaRPr lang="en-US" sz="2000" dirty="0"/>
          </a:p>
        </p:txBody>
      </p:sp>
      <p:sp>
        <p:nvSpPr>
          <p:cNvPr id="6" name="tech 1 circle"/>
          <p:cNvSpPr/>
          <p:nvPr/>
        </p:nvSpPr>
        <p:spPr>
          <a:xfrm>
            <a:off x="4663440" y="14630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tech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1641348"/>
            <a:ext cx="329184" cy="329184"/>
          </a:xfrm>
          <a:prstGeom prst="rect">
            <a:avLst/>
          </a:prstGeom>
        </p:spPr>
      </p:pic>
      <p:sp>
        <p:nvSpPr>
          <p:cNvPr id="8" name="tech text 1"/>
          <p:cNvSpPr txBox="1"/>
          <p:nvPr/>
        </p:nvSpPr>
        <p:spPr>
          <a:xfrm>
            <a:off x="5577840" y="1371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Audio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Inaudible tweaks to samples or echoes</a:t>
            </a:r>
            <a:endParaRPr lang="en-US" sz="2000" dirty="0"/>
          </a:p>
        </p:txBody>
      </p:sp>
      <p:sp>
        <p:nvSpPr>
          <p:cNvPr id="9" name="tech 2 circle"/>
          <p:cNvSpPr/>
          <p:nvPr/>
        </p:nvSpPr>
        <p:spPr>
          <a:xfrm>
            <a:off x="548640" y="25603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tech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2738628"/>
            <a:ext cx="329184" cy="329184"/>
          </a:xfrm>
          <a:prstGeom prst="rect">
            <a:avLst/>
          </a:prstGeom>
        </p:spPr>
      </p:pic>
      <p:sp>
        <p:nvSpPr>
          <p:cNvPr id="11" name="tech text 2"/>
          <p:cNvSpPr txBox="1"/>
          <p:nvPr/>
        </p:nvSpPr>
        <p:spPr>
          <a:xfrm>
            <a:off x="1463040" y="2468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Video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Hidden data across many frames</a:t>
            </a:r>
            <a:endParaRPr lang="en-US" sz="2000" dirty="0"/>
          </a:p>
        </p:txBody>
      </p:sp>
      <p:sp>
        <p:nvSpPr>
          <p:cNvPr id="12" name="tech 3 circle"/>
          <p:cNvSpPr/>
          <p:nvPr/>
        </p:nvSpPr>
        <p:spPr>
          <a:xfrm>
            <a:off x="4663440" y="25603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tech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748" y="2738628"/>
            <a:ext cx="329184" cy="329184"/>
          </a:xfrm>
          <a:prstGeom prst="rect">
            <a:avLst/>
          </a:prstGeom>
        </p:spPr>
      </p:pic>
      <p:sp>
        <p:nvSpPr>
          <p:cNvPr id="14" name="tech text 3"/>
          <p:cNvSpPr txBox="1"/>
          <p:nvPr/>
        </p:nvSpPr>
        <p:spPr>
          <a:xfrm>
            <a:off x="5577840" y="2468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Text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Whitespace, spelling and word patterns</a:t>
            </a:r>
            <a:endParaRPr lang="en-US" sz="2000" dirty="0"/>
          </a:p>
        </p:txBody>
      </p:sp>
      <p:sp>
        <p:nvSpPr>
          <p:cNvPr id="15" name="tech 4 circle"/>
          <p:cNvSpPr/>
          <p:nvPr/>
        </p:nvSpPr>
        <p:spPr>
          <a:xfrm>
            <a:off x="548640" y="36576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tech 4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" y="3835908"/>
            <a:ext cx="329184" cy="329184"/>
          </a:xfrm>
          <a:prstGeom prst="rect">
            <a:avLst/>
          </a:prstGeom>
        </p:spPr>
      </p:pic>
      <p:sp>
        <p:nvSpPr>
          <p:cNvPr id="17" name="tech text 4"/>
          <p:cNvSpPr txBox="1"/>
          <p:nvPr/>
        </p:nvSpPr>
        <p:spPr>
          <a:xfrm>
            <a:off x="1463040" y="3566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Network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Packet headers and timing gaps</a:t>
            </a:r>
            <a:endParaRPr lang="en-US" sz="2000" dirty="0"/>
          </a:p>
        </p:txBody>
      </p:sp>
      <p:sp>
        <p:nvSpPr>
          <p:cNvPr id="18" name="tech 5 circle"/>
          <p:cNvSpPr/>
          <p:nvPr/>
        </p:nvSpPr>
        <p:spPr>
          <a:xfrm>
            <a:off x="4663440" y="36576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tech 5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1748" y="3835908"/>
            <a:ext cx="329184" cy="329184"/>
          </a:xfrm>
          <a:prstGeom prst="rect">
            <a:avLst/>
          </a:prstGeom>
        </p:spPr>
      </p:pic>
      <p:sp>
        <p:nvSpPr>
          <p:cNvPr id="20" name="tech text 5"/>
          <p:cNvSpPr txBox="1"/>
          <p:nvPr/>
        </p:nvSpPr>
        <p:spPr>
          <a:xfrm>
            <a:off x="5577840" y="3566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Files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Metadata and unused file space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How LSB Hiding Works</a:t>
            </a:r>
            <a:endParaRPr lang="en-US" sz="3400" dirty="0"/>
          </a:p>
        </p:txBody>
      </p:sp>
      <p:sp>
        <p:nvSpPr>
          <p:cNvPr id="3" name="lsb label 0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Original pixel value (one colour channel)</a:t>
            </a:r>
            <a:endParaRPr lang="en-US" sz="1400" dirty="0"/>
          </a:p>
        </p:txBody>
      </p:sp>
      <p:sp>
        <p:nvSpPr>
          <p:cNvPr id="4" name="bit 0-0"/>
          <p:cNvSpPr txBox="1"/>
          <p:nvPr/>
        </p:nvSpPr>
        <p:spPr>
          <a:xfrm>
            <a:off x="548640" y="171907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bit 0-1"/>
          <p:cNvSpPr txBox="1"/>
          <p:nvPr/>
        </p:nvSpPr>
        <p:spPr>
          <a:xfrm>
            <a:off x="1014984" y="171907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</a:t>
            </a:r>
            <a:endParaRPr lang="en-US" sz="1600" dirty="0"/>
          </a:p>
        </p:txBody>
      </p:sp>
      <p:sp>
        <p:nvSpPr>
          <p:cNvPr id="6" name="bit 0-2"/>
          <p:cNvSpPr txBox="1"/>
          <p:nvPr/>
        </p:nvSpPr>
        <p:spPr>
          <a:xfrm>
            <a:off x="1481328" y="171907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bit 0-3"/>
          <p:cNvSpPr txBox="1"/>
          <p:nvPr/>
        </p:nvSpPr>
        <p:spPr>
          <a:xfrm>
            <a:off x="1947672" y="171907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bit 0-4"/>
          <p:cNvSpPr txBox="1"/>
          <p:nvPr/>
        </p:nvSpPr>
        <p:spPr>
          <a:xfrm>
            <a:off x="2414016" y="171907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</a:t>
            </a:r>
            <a:endParaRPr lang="en-US" sz="1600" dirty="0"/>
          </a:p>
        </p:txBody>
      </p:sp>
      <p:sp>
        <p:nvSpPr>
          <p:cNvPr id="9" name="bit 0-5"/>
          <p:cNvSpPr txBox="1"/>
          <p:nvPr/>
        </p:nvSpPr>
        <p:spPr>
          <a:xfrm>
            <a:off x="2880360" y="171907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bit 0-6"/>
          <p:cNvSpPr txBox="1"/>
          <p:nvPr/>
        </p:nvSpPr>
        <p:spPr>
          <a:xfrm>
            <a:off x="3346704" y="171907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</a:t>
            </a:r>
            <a:endParaRPr lang="en-US" sz="1600" dirty="0"/>
          </a:p>
        </p:txBody>
      </p:sp>
      <p:sp>
        <p:nvSpPr>
          <p:cNvPr id="11" name="bit 0-7"/>
          <p:cNvSpPr txBox="1"/>
          <p:nvPr/>
        </p:nvSpPr>
        <p:spPr>
          <a:xfrm>
            <a:off x="3813048" y="171907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</a:t>
            </a:r>
            <a:endParaRPr lang="en-US" sz="1600" dirty="0"/>
          </a:p>
        </p:txBody>
      </p:sp>
      <p:sp>
        <p:nvSpPr>
          <p:cNvPr id="12" name="lsb decimal 0"/>
          <p:cNvSpPr txBox="1"/>
          <p:nvPr/>
        </p:nvSpPr>
        <p:spPr>
          <a:xfrm>
            <a:off x="4434840" y="1719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= 180</a:t>
            </a:r>
            <a:endParaRPr lang="en-US" sz="1600" dirty="0"/>
          </a:p>
        </p:txBody>
      </p:sp>
      <p:sp>
        <p:nvSpPr>
          <p:cNvPr id="13" name="lsb label 1"/>
          <p:cNvSpPr txBox="1"/>
          <p:nvPr/>
        </p:nvSpPr>
        <p:spPr>
          <a:xfrm>
            <a:off x="54864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 bit to hide</a:t>
            </a:r>
            <a:endParaRPr lang="en-US" sz="1400" dirty="0"/>
          </a:p>
        </p:txBody>
      </p:sp>
      <p:sp>
        <p:nvSpPr>
          <p:cNvPr id="14" name="bit 1-0"/>
          <p:cNvSpPr txBox="1"/>
          <p:nvPr/>
        </p:nvSpPr>
        <p:spPr>
          <a:xfrm>
            <a:off x="548640" y="267919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lsb label 2"/>
          <p:cNvSpPr txBox="1"/>
          <p:nvPr/>
        </p:nvSpPr>
        <p:spPr>
          <a:xfrm>
            <a:off x="54864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Stego pixel value</a:t>
            </a:r>
            <a:endParaRPr lang="en-US" sz="1400" dirty="0"/>
          </a:p>
        </p:txBody>
      </p:sp>
      <p:sp>
        <p:nvSpPr>
          <p:cNvPr id="16" name="bit 2-0"/>
          <p:cNvSpPr txBox="1"/>
          <p:nvPr/>
        </p:nvSpPr>
        <p:spPr>
          <a:xfrm>
            <a:off x="548640" y="36393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bit 2-1"/>
          <p:cNvSpPr txBox="1"/>
          <p:nvPr/>
        </p:nvSpPr>
        <p:spPr>
          <a:xfrm>
            <a:off x="1014984" y="36393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</a:t>
            </a:r>
            <a:endParaRPr lang="en-US" sz="1600" dirty="0"/>
          </a:p>
        </p:txBody>
      </p:sp>
      <p:sp>
        <p:nvSpPr>
          <p:cNvPr id="18" name="bit 2-2"/>
          <p:cNvSpPr txBox="1"/>
          <p:nvPr/>
        </p:nvSpPr>
        <p:spPr>
          <a:xfrm>
            <a:off x="1481328" y="36393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bit 2-3"/>
          <p:cNvSpPr txBox="1"/>
          <p:nvPr/>
        </p:nvSpPr>
        <p:spPr>
          <a:xfrm>
            <a:off x="1947672" y="36393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bit 2-4"/>
          <p:cNvSpPr txBox="1"/>
          <p:nvPr/>
        </p:nvSpPr>
        <p:spPr>
          <a:xfrm>
            <a:off x="2414016" y="36393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</a:t>
            </a:r>
            <a:endParaRPr lang="en-US" sz="1600" dirty="0"/>
          </a:p>
        </p:txBody>
      </p:sp>
      <p:sp>
        <p:nvSpPr>
          <p:cNvPr id="21" name="bit 2-5"/>
          <p:cNvSpPr txBox="1"/>
          <p:nvPr/>
        </p:nvSpPr>
        <p:spPr>
          <a:xfrm>
            <a:off x="2880360" y="36393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2" name="bit 2-6"/>
          <p:cNvSpPr txBox="1"/>
          <p:nvPr/>
        </p:nvSpPr>
        <p:spPr>
          <a:xfrm>
            <a:off x="3346704" y="36393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</a:t>
            </a:r>
            <a:endParaRPr lang="en-US" sz="1600" dirty="0"/>
          </a:p>
        </p:txBody>
      </p:sp>
      <p:sp>
        <p:nvSpPr>
          <p:cNvPr id="23" name="bit 2-7"/>
          <p:cNvSpPr txBox="1"/>
          <p:nvPr/>
        </p:nvSpPr>
        <p:spPr>
          <a:xfrm>
            <a:off x="3813048" y="36393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4" name="lsb decimal 2"/>
          <p:cNvSpPr txBox="1"/>
          <p:nvPr/>
        </p:nvSpPr>
        <p:spPr>
          <a:xfrm>
            <a:off x="4434840" y="36393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= 181</a:t>
            </a:r>
            <a:endParaRPr lang="en-US" sz="1600" dirty="0"/>
          </a:p>
        </p:txBody>
      </p:sp>
      <p:sp>
        <p:nvSpPr>
          <p:cNvPr id="25" name="lsb note"/>
          <p:cNvSpPr txBox="1"/>
          <p:nvPr/>
        </p:nvSpPr>
        <p:spPr>
          <a:xfrm>
            <a:off x="54864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Repeat for every pixel and channel: 3 hidden bits per pixel.</a:t>
            </a:r>
            <a:endParaRPr lang="en-US" sz="1400" dirty="0"/>
          </a:p>
        </p:txBody>
      </p:sp>
      <p:sp>
        <p:nvSpPr>
          <p:cNvPr id="26" name="lsb stat card"/>
          <p:cNvSpPr/>
          <p:nvPr/>
        </p:nvSpPr>
        <p:spPr>
          <a:xfrm>
            <a:off x="594360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/>
        </p:spPr>
      </p:sp>
      <p:sp>
        <p:nvSpPr>
          <p:cNvPr id="27" name="lsb stat"/>
          <p:cNvSpPr txBox="1"/>
          <p:nvPr/>
        </p:nvSpPr>
        <p:spPr>
          <a:xfrm>
            <a:off x="6126480" y="1645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</a:rPr>
              <a:t>±1</a:t>
            </a:r>
            <a:endParaRPr lang="en-US" sz="6600" dirty="0"/>
          </a:p>
        </p:txBody>
      </p:sp>
      <p:sp>
        <p:nvSpPr>
          <p:cNvPr id="28" name="lsb stat label"/>
          <p:cNvSpPr txBox="1"/>
          <p:nvPr/>
        </p:nvSpPr>
        <p:spPr>
          <a:xfrm>
            <a:off x="617220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change in colour value out of 256 levels</a:t>
            </a:r>
            <a:endParaRPr lang="en-US" sz="1400" dirty="0"/>
          </a:p>
        </p:txBody>
      </p:sp>
      <p:sp>
        <p:nvSpPr>
          <p:cNvPr id="29" name="lsb stat punch"/>
          <p:cNvSpPr txBox="1"/>
          <p:nvPr/>
        </p:nvSpPr>
        <p:spPr>
          <a:xfrm>
            <a:off x="617220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Invisible to the human eye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Head-to-Head Comparison</a:t>
            </a:r>
            <a:endParaRPr lang="en-US" sz="34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3200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Cryptography</a:t>
                      </a:r>
                      <a:endParaRPr lang="en-US" sz="16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Steganography</a:t>
                      </a:r>
                      <a:endParaRPr lang="en-US" sz="16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Goal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Make data unreadable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Make data unnoticed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What is hidden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meaning of the message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existence of the message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Attacker sees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Obvious gibberish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 ordinary-looking file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Core tool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Keys and algorithms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Cover media and embedding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If discovered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Still protected by the key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Message is exposed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AES, RSA, SHA-256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LSB images, audio, video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Meaning vs Existence</a:t>
            </a:r>
            <a:endParaRPr lang="en-US" sz="3400" dirty="0"/>
          </a:p>
        </p:txBody>
      </p:sp>
      <p:sp>
        <p:nvSpPr>
          <p:cNvPr id="3" name="panel Cryptography"/>
          <p:cNvSpPr/>
          <p:nvPr/>
        </p:nvSpPr>
        <p:spPr>
          <a:xfrm>
            <a:off x="548640" y="137160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/>
        </p:spPr>
      </p:sp>
      <p:sp>
        <p:nvSpPr>
          <p:cNvPr id="4" name="panel Cryptography circle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nel Cryptography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836115"/>
            <a:ext cx="351130" cy="351130"/>
          </a:xfrm>
          <a:prstGeom prst="rect">
            <a:avLst/>
          </a:prstGeom>
        </p:spPr>
      </p:pic>
      <p:sp>
        <p:nvSpPr>
          <p:cNvPr id="6" name="panel name Cryptography"/>
          <p:cNvSpPr txBox="1"/>
          <p:nvPr/>
        </p:nvSpPr>
        <p:spPr>
          <a:xfrm>
            <a:off x="173736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Cryptography</a:t>
            </a:r>
            <a:endParaRPr lang="en-US" sz="2200" dirty="0"/>
          </a:p>
        </p:txBody>
      </p:sp>
      <p:sp>
        <p:nvSpPr>
          <p:cNvPr id="7" name="panel claim Cryptography"/>
          <p:cNvSpPr txBox="1"/>
          <p:nvPr/>
        </p:nvSpPr>
        <p:spPr>
          <a:xfrm>
            <a:off x="822960" y="2560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Hides the meaning</a:t>
            </a:r>
            <a:endParaRPr lang="en-US" sz="2400" dirty="0"/>
          </a:p>
        </p:txBody>
      </p:sp>
      <p:sp>
        <p:nvSpPr>
          <p:cNvPr id="8" name="panel desc Cryptography"/>
          <p:cNvSpPr txBox="1"/>
          <p:nvPr/>
        </p:nvSpPr>
        <p:spPr>
          <a:xfrm>
            <a:off x="822960" y="3108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Everyone knows a secret exists, but nobody can read it.</a:t>
            </a:r>
            <a:endParaRPr lang="en-US" sz="1600" dirty="0"/>
          </a:p>
        </p:txBody>
      </p:sp>
      <p:sp>
        <p:nvSpPr>
          <p:cNvPr id="9" name="panel analogy Cryptography"/>
          <p:cNvSpPr txBox="1"/>
          <p:nvPr/>
        </p:nvSpPr>
        <p:spPr>
          <a:xfrm>
            <a:off x="822960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</a:rPr>
              <a:t>Like a locked safe in plain sight</a:t>
            </a:r>
            <a:endParaRPr lang="en-US" sz="1400" dirty="0"/>
          </a:p>
        </p:txBody>
      </p:sp>
      <p:sp>
        <p:nvSpPr>
          <p:cNvPr id="10" name="panel Steganography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/>
        </p:spPr>
      </p:sp>
      <p:sp>
        <p:nvSpPr>
          <p:cNvPr id="11" name="panel Steganography circle"/>
          <p:cNvSpPr/>
          <p:nvPr/>
        </p:nvSpPr>
        <p:spPr>
          <a:xfrm>
            <a:off x="4937760" y="1645920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panel Steganography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955" y="1836115"/>
            <a:ext cx="351130" cy="351130"/>
          </a:xfrm>
          <a:prstGeom prst="rect">
            <a:avLst/>
          </a:prstGeom>
        </p:spPr>
      </p:pic>
      <p:sp>
        <p:nvSpPr>
          <p:cNvPr id="13" name="panel name Steganography"/>
          <p:cNvSpPr txBox="1"/>
          <p:nvPr/>
        </p:nvSpPr>
        <p:spPr>
          <a:xfrm>
            <a:off x="585216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Steganography</a:t>
            </a:r>
            <a:endParaRPr lang="en-US" sz="2200" dirty="0"/>
          </a:p>
        </p:txBody>
      </p:sp>
      <p:sp>
        <p:nvSpPr>
          <p:cNvPr id="14" name="panel claim Steganography"/>
          <p:cNvSpPr txBox="1"/>
          <p:nvPr/>
        </p:nvSpPr>
        <p:spPr>
          <a:xfrm>
            <a:off x="4937760" y="2560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Hides the existence</a:t>
            </a:r>
            <a:endParaRPr lang="en-US" sz="2400" dirty="0"/>
          </a:p>
        </p:txBody>
      </p:sp>
      <p:sp>
        <p:nvSpPr>
          <p:cNvPr id="15" name="panel desc Steganography"/>
          <p:cNvSpPr txBox="1"/>
          <p:nvPr/>
        </p:nvSpPr>
        <p:spPr>
          <a:xfrm>
            <a:off x="4937760" y="3108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Nobody even suspects a secret is there.</a:t>
            </a:r>
            <a:endParaRPr lang="en-US" sz="1600" dirty="0"/>
          </a:p>
        </p:txBody>
      </p:sp>
      <p:sp>
        <p:nvSpPr>
          <p:cNvPr id="16" name="panel analogy Steganography"/>
          <p:cNvSpPr txBox="1"/>
          <p:nvPr/>
        </p:nvSpPr>
        <p:spPr>
          <a:xfrm>
            <a:off x="4937760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</a:rPr>
              <a:t>Like a note tucked inside a book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Real-World Applications</a:t>
            </a:r>
            <a:endParaRPr lang="en-US" sz="3400" dirty="0"/>
          </a:p>
        </p:txBody>
      </p:sp>
      <p:sp>
        <p:nvSpPr>
          <p:cNvPr id="3" name="apps card Cryptography"/>
          <p:cNvSpPr/>
          <p:nvPr/>
        </p:nvSpPr>
        <p:spPr>
          <a:xfrm>
            <a:off x="548640" y="137160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apps Cryptography circl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pps Cryptography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720901"/>
            <a:ext cx="307238" cy="307238"/>
          </a:xfrm>
          <a:prstGeom prst="rect">
            <a:avLst/>
          </a:prstGeom>
        </p:spPr>
      </p:pic>
      <p:sp>
        <p:nvSpPr>
          <p:cNvPr id="6" name="apps title Cryptography"/>
          <p:cNvSpPr txBox="1"/>
          <p:nvPr/>
        </p:nvSpPr>
        <p:spPr>
          <a:xfrm>
            <a:off x="164592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Cryptography</a:t>
            </a:r>
            <a:endParaRPr lang="en-US" sz="2200" dirty="0"/>
          </a:p>
        </p:txBody>
      </p:sp>
      <p:sp>
        <p:nvSpPr>
          <p:cNvPr id="7" name="apps list Cryptography"/>
          <p:cNvSpPr txBox="1"/>
          <p:nvPr/>
        </p:nvSpPr>
        <p:spPr>
          <a:xfrm>
            <a:off x="822960" y="23774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HTTPS and secure websites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Banking and card payments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End-to-end encrypted messaging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Password storage and digital signatures</a:t>
            </a:r>
            <a:endParaRPr lang="en-US" sz="1600" dirty="0"/>
          </a:p>
        </p:txBody>
      </p:sp>
      <p:sp>
        <p:nvSpPr>
          <p:cNvPr id="8" name="apps card Steganography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9" name="apps Steganography circle"/>
          <p:cNvSpPr/>
          <p:nvPr/>
        </p:nvSpPr>
        <p:spPr>
          <a:xfrm>
            <a:off x="4937760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pps Steganography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181" y="1720901"/>
            <a:ext cx="307238" cy="307238"/>
          </a:xfrm>
          <a:prstGeom prst="rect">
            <a:avLst/>
          </a:prstGeom>
        </p:spPr>
      </p:pic>
      <p:sp>
        <p:nvSpPr>
          <p:cNvPr id="11" name="apps title Steganography"/>
          <p:cNvSpPr txBox="1"/>
          <p:nvPr/>
        </p:nvSpPr>
        <p:spPr>
          <a:xfrm>
            <a:off x="576072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Steganography</a:t>
            </a:r>
            <a:endParaRPr lang="en-US" sz="2200" dirty="0"/>
          </a:p>
        </p:txBody>
      </p:sp>
      <p:sp>
        <p:nvSpPr>
          <p:cNvPr id="12" name="apps list Steganography"/>
          <p:cNvSpPr txBox="1"/>
          <p:nvPr/>
        </p:nvSpPr>
        <p:spPr>
          <a:xfrm>
            <a:off x="4937760" y="23774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Digital watermarking of media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Covert messaging under censorship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Tracing leaks and copyright theft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Malware hiding payloads (a security risk)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Strengths and Limitations</a:t>
            </a:r>
            <a:endParaRPr lang="en-US" sz="3400" dirty="0"/>
          </a:p>
        </p:txBody>
      </p:sp>
      <p:sp>
        <p:nvSpPr>
          <p:cNvPr id="3" name="sl card 0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sl dot 0"/>
          <p:cNvSpPr/>
          <p:nvPr/>
        </p:nvSpPr>
        <p:spPr>
          <a:xfrm>
            <a:off x="777240" y="155448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l title 0"/>
          <p:cNvSpPr txBox="1"/>
          <p:nvPr/>
        </p:nvSpPr>
        <p:spPr>
          <a:xfrm>
            <a:off x="1097280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Cryptography: strengths</a:t>
            </a:r>
            <a:endParaRPr lang="en-US" sz="1600" dirty="0"/>
          </a:p>
        </p:txBody>
      </p:sp>
      <p:sp>
        <p:nvSpPr>
          <p:cNvPr id="6" name="sl list 0"/>
          <p:cNvSpPr txBox="1"/>
          <p:nvPr/>
        </p:nvSpPr>
        <p:spPr>
          <a:xfrm>
            <a:off x="822960" y="19019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Mathematically strong (e.g. AES-256)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Open, standardised and well tested</a:t>
            </a:r>
            <a:endParaRPr lang="en-US" sz="1400" dirty="0"/>
          </a:p>
        </p:txBody>
      </p:sp>
      <p:sp>
        <p:nvSpPr>
          <p:cNvPr id="7" name="sl card 1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sl dot 1"/>
          <p:cNvSpPr/>
          <p:nvPr/>
        </p:nvSpPr>
        <p:spPr>
          <a:xfrm>
            <a:off x="4892040" y="155448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l title 1"/>
          <p:cNvSpPr txBox="1"/>
          <p:nvPr/>
        </p:nvSpPr>
        <p:spPr>
          <a:xfrm>
            <a:off x="5212080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Steganography: strengths</a:t>
            </a:r>
            <a:endParaRPr lang="en-US" sz="1600" dirty="0"/>
          </a:p>
        </p:txBody>
      </p:sp>
      <p:sp>
        <p:nvSpPr>
          <p:cNvPr id="10" name="sl list 1"/>
          <p:cNvSpPr txBox="1"/>
          <p:nvPr/>
        </p:nvSpPr>
        <p:spPr>
          <a:xfrm>
            <a:off x="4937760" y="19019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Hides that communication exists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Gives plausible deniability</a:t>
            </a:r>
            <a:endParaRPr lang="en-US" sz="1400" dirty="0"/>
          </a:p>
        </p:txBody>
      </p:sp>
      <p:sp>
        <p:nvSpPr>
          <p:cNvPr id="11" name="sl card 2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sl dot 2"/>
          <p:cNvSpPr/>
          <p:nvPr/>
        </p:nvSpPr>
        <p:spPr>
          <a:xfrm>
            <a:off x="777240" y="320040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l title 2"/>
          <p:cNvSpPr txBox="1"/>
          <p:nvPr/>
        </p:nvSpPr>
        <p:spPr>
          <a:xfrm>
            <a:off x="1097280" y="3127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Cryptography: limitations</a:t>
            </a:r>
            <a:endParaRPr lang="en-US" sz="1600" dirty="0"/>
          </a:p>
        </p:txBody>
      </p:sp>
      <p:sp>
        <p:nvSpPr>
          <p:cNvPr id="14" name="sl list 2"/>
          <p:cNvSpPr txBox="1"/>
          <p:nvPr/>
        </p:nvSpPr>
        <p:spPr>
          <a:xfrm>
            <a:off x="822960" y="354787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Ciphertext itself draws attention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Key management is hard</a:t>
            </a:r>
            <a:endParaRPr lang="en-US" sz="1400" dirty="0"/>
          </a:p>
        </p:txBody>
      </p:sp>
      <p:sp>
        <p:nvSpPr>
          <p:cNvPr id="15" name="sl card 3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6" name="sl dot 3"/>
          <p:cNvSpPr/>
          <p:nvPr/>
        </p:nvSpPr>
        <p:spPr>
          <a:xfrm>
            <a:off x="4892040" y="320040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sl title 3"/>
          <p:cNvSpPr txBox="1"/>
          <p:nvPr/>
        </p:nvSpPr>
        <p:spPr>
          <a:xfrm>
            <a:off x="5212080" y="3127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Steganography: limitations</a:t>
            </a:r>
            <a:endParaRPr lang="en-US" sz="1600" dirty="0"/>
          </a:p>
        </p:txBody>
      </p:sp>
      <p:sp>
        <p:nvSpPr>
          <p:cNvPr id="18" name="sl list 3"/>
          <p:cNvSpPr txBox="1"/>
          <p:nvPr/>
        </p:nvSpPr>
        <p:spPr>
          <a:xfrm>
            <a:off x="4937760" y="354787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 capacity; fragile if resized or compressed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 be found by steganalysis tools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Better Together</a:t>
            </a:r>
            <a:endParaRPr lang="en-US" sz="3400" dirty="0"/>
          </a:p>
        </p:txBody>
      </p:sp>
      <p:sp>
        <p:nvSpPr>
          <p:cNvPr id="3" name="flow Secret message"/>
          <p:cNvSpPr txBox="1"/>
          <p:nvPr/>
        </p:nvSpPr>
        <p:spPr>
          <a:xfrm>
            <a:off x="548640" y="141732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 message</a:t>
            </a:r>
            <a:endParaRPr lang="en-US" sz="1400" dirty="0"/>
          </a:p>
        </p:txBody>
      </p:sp>
      <p:sp>
        <p:nvSpPr>
          <p:cNvPr id="4" name="arrow"/>
          <p:cNvSpPr/>
          <p:nvPr/>
        </p:nvSpPr>
        <p:spPr>
          <a:xfrm>
            <a:off x="2331720" y="17922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5" name="flow 1. Encrypt"/>
          <p:cNvSpPr txBox="1"/>
          <p:nvPr/>
        </p:nvSpPr>
        <p:spPr>
          <a:xfrm>
            <a:off x="2651760" y="141732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1. Encrypt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e.g. AES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4434840" y="17922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7" name="flow 2. Embed"/>
          <p:cNvSpPr txBox="1"/>
          <p:nvPr/>
        </p:nvSpPr>
        <p:spPr>
          <a:xfrm>
            <a:off x="4754880" y="141732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2. Embed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in an image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6537960" y="1792224"/>
            <a:ext cx="27432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flow Send openly"/>
          <p:cNvSpPr txBox="1"/>
          <p:nvPr/>
        </p:nvSpPr>
        <p:spPr>
          <a:xfrm>
            <a:off x="6858000" y="141732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Send openly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looks innocent</a:t>
            </a:r>
            <a:endParaRPr lang="en-US" sz="1400" dirty="0"/>
          </a:p>
        </p:txBody>
      </p:sp>
      <p:sp>
        <p:nvSpPr>
          <p:cNvPr id="10" name="layer card 0"/>
          <p:cNvSpPr/>
          <p:nvPr/>
        </p:nvSpPr>
        <p:spPr>
          <a:xfrm>
            <a:off x="548640" y="283464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1" name="layer title 0"/>
          <p:cNvSpPr txBox="1"/>
          <p:nvPr/>
        </p:nvSpPr>
        <p:spPr>
          <a:xfrm>
            <a:off x="82296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If the hiding is detected</a:t>
            </a:r>
            <a:endParaRPr lang="en-US" sz="1800" dirty="0"/>
          </a:p>
        </p:txBody>
      </p:sp>
      <p:sp>
        <p:nvSpPr>
          <p:cNvPr id="12" name="layer text 0"/>
          <p:cNvSpPr txBox="1"/>
          <p:nvPr/>
        </p:nvSpPr>
        <p:spPr>
          <a:xfrm>
            <a:off x="82296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Encryption still keeps the content unreadable.</a:t>
            </a:r>
            <a:endParaRPr lang="en-US" sz="1600" dirty="0"/>
          </a:p>
        </p:txBody>
      </p:sp>
      <p:sp>
        <p:nvSpPr>
          <p:cNvPr id="13" name="layer card 1"/>
          <p:cNvSpPr/>
          <p:nvPr/>
        </p:nvSpPr>
        <p:spPr>
          <a:xfrm>
            <a:off x="4663440" y="283464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/>
        </p:spPr>
      </p:sp>
      <p:sp>
        <p:nvSpPr>
          <p:cNvPr id="14" name="layer title 1"/>
          <p:cNvSpPr txBox="1"/>
          <p:nvPr/>
        </p:nvSpPr>
        <p:spPr>
          <a:xfrm>
            <a:off x="493776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Without the hiding layer</a:t>
            </a:r>
            <a:endParaRPr lang="en-US" sz="1800" dirty="0"/>
          </a:p>
        </p:txBody>
      </p:sp>
      <p:sp>
        <p:nvSpPr>
          <p:cNvPr id="15" name="layer text 1"/>
          <p:cNvSpPr txBox="1"/>
          <p:nvPr/>
        </p:nvSpPr>
        <p:spPr>
          <a:xfrm>
            <a:off x="493776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Ciphertext announces a secret. Inside an ordinary file, it attracts no attention.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Key Takeaways</a:t>
            </a:r>
            <a:endParaRPr lang="en-US" sz="3800" dirty="0"/>
          </a:p>
        </p:txBody>
      </p:sp>
      <p:sp>
        <p:nvSpPr>
          <p:cNvPr id="3" name="takeaway num 1"/>
          <p:cNvSpPr txBox="1"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akeaway text 1"/>
          <p:cNvSpPr txBox="1"/>
          <p:nvPr/>
        </p:nvSpPr>
        <p:spPr>
          <a:xfrm>
            <a:off x="1508760" y="160020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Cryptography protects what a message says.</a:t>
            </a:r>
            <a:endParaRPr lang="en-US" sz="2200" dirty="0"/>
          </a:p>
        </p:txBody>
      </p:sp>
      <p:sp>
        <p:nvSpPr>
          <p:cNvPr id="5" name="takeaway num 2"/>
          <p:cNvSpPr txBox="1"/>
          <p:nvPr/>
        </p:nvSpPr>
        <p:spPr>
          <a:xfrm>
            <a:off x="640080" y="24688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6" name="takeaway text 2"/>
          <p:cNvSpPr txBox="1"/>
          <p:nvPr/>
        </p:nvSpPr>
        <p:spPr>
          <a:xfrm>
            <a:off x="1508760" y="246888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Steganography protects that a message exists.</a:t>
            </a:r>
            <a:endParaRPr lang="en-US" sz="2200" dirty="0"/>
          </a:p>
        </p:txBody>
      </p:sp>
      <p:sp>
        <p:nvSpPr>
          <p:cNvPr id="7" name="takeaway num 3"/>
          <p:cNvSpPr txBox="1"/>
          <p:nvPr/>
        </p:nvSpPr>
        <p:spPr>
          <a:xfrm>
            <a:off x="640080" y="33375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takeaway text 3"/>
          <p:cNvSpPr txBox="1"/>
          <p:nvPr/>
        </p:nvSpPr>
        <p:spPr>
          <a:xfrm>
            <a:off x="1508760" y="333756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Used together they give layered, resilient security.</a:t>
            </a:r>
            <a:endParaRPr lang="en-US" sz="2200" dirty="0"/>
          </a:p>
        </p:txBody>
      </p:sp>
      <p:sp>
        <p:nvSpPr>
          <p:cNvPr id="9" name="closing line"/>
          <p:cNvSpPr txBox="1"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Thank you.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pher &amp; Cover">
  <a:themeElements>
    <a:clrScheme name="Cipher &amp; Cover">
      <a:dk1>
        <a:srgbClr val="0F1B2D"/>
      </a:dk1>
      <a:lt1>
        <a:srgbClr val="FFFFFF"/>
      </a:lt1>
      <a:dk2>
        <a:srgbClr val="1E3350"/>
      </a:dk2>
      <a:lt2>
        <a:srgbClr val="EEF3F7"/>
      </a:lt2>
      <a:accent1>
        <a:srgbClr val="F59E0B"/>
      </a:accent1>
      <a:accent2>
        <a:srgbClr val="0D7C72"/>
      </a:accent2>
      <a:accent3>
        <a:srgbClr val="2DD4BF"/>
      </a:accent3>
      <a:accent4>
        <a:srgbClr val="5B6B7F"/>
      </a:accent4>
      <a:accent5>
        <a:srgbClr val="EF4444"/>
      </a:accent5>
      <a:accent6>
        <a:srgbClr val="22C55E"/>
      </a:accent6>
      <a:hlink>
        <a:srgbClr val="0D7C72"/>
      </a:hlink>
      <a:folHlink>
        <a:srgbClr val="5B6B7F"/>
      </a:folHlink>
    </a:clrScheme>
    <a:fontScheme name="Cipher &amp; Cov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1023</Words>
  <Application>Microsoft Office PowerPoint</Application>
  <PresentationFormat>On-screen Show (16:9)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Cipher &amp; Cover</vt:lpstr>
      <vt:lpstr>Steganography vs Cryptography</vt:lpstr>
      <vt:lpstr>What We'll Cover</vt:lpstr>
      <vt:lpstr>What Is Cryptography?</vt:lpstr>
      <vt:lpstr>Three Families of Cryptography</vt:lpstr>
      <vt:lpstr>What Is Steganography?</vt:lpstr>
      <vt:lpstr>Where Secrets Can Hide</vt:lpstr>
      <vt:lpstr>How LSB Hiding Works</vt:lpstr>
      <vt:lpstr>Head-to-Head Comparison</vt:lpstr>
      <vt:lpstr>Meaning vs Existence</vt:lpstr>
      <vt:lpstr>Real-World Applications</vt:lpstr>
      <vt:lpstr>Strengths and Limitations</vt:lpstr>
      <vt:lpstr>Better Together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Steganography vs Cryptography: Hidden Security in the Digital World</dc:title>
  <dc:subject>PptxGenJS Presentation</dc:subject>
  <dc:creator>PptxGenJS</dc:creator>
  <cp:lastModifiedBy>vignesh V</cp:lastModifiedBy>
  <cp:revision>2</cp:revision>
  <dcterms:created xsi:type="dcterms:W3CDTF">2026-10-10T07:22:13Z</dcterms:created>
  <dcterms:modified xsi:type="dcterms:W3CDTF">2026-10-10T07:38:57Z</dcterms:modified>
</cp:coreProperties>
</file>